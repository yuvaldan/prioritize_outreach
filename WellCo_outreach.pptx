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F9135-9625-4F95-B566-15642F034B4C}" type="datetimeFigureOut">
              <a:rPr lang="en-IL" smtClean="0"/>
              <a:t>02/01/2026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920ED-8D17-46C1-9411-03BD61CF5DA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9758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920ED-8D17-46C1-9411-03BD61CF5DAB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77399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36AAB-3D93-448F-91EA-E07AB94C2535}" type="datetimeFigureOut">
              <a:rPr lang="en-IL" smtClean="0"/>
              <a:t>02/01/2026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0D58-B144-4A7B-AE4D-EF463EDFDA9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33925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36AAB-3D93-448F-91EA-E07AB94C2535}" type="datetimeFigureOut">
              <a:rPr lang="en-IL" smtClean="0"/>
              <a:t>02/01/2026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0D58-B144-4A7B-AE4D-EF463EDFDA9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59172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36AAB-3D93-448F-91EA-E07AB94C2535}" type="datetimeFigureOut">
              <a:rPr lang="en-IL" smtClean="0"/>
              <a:t>02/01/2026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0D58-B144-4A7B-AE4D-EF463EDFDA9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67284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36AAB-3D93-448F-91EA-E07AB94C2535}" type="datetimeFigureOut">
              <a:rPr lang="en-IL" smtClean="0"/>
              <a:t>02/01/2026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0D58-B144-4A7B-AE4D-EF463EDFDA9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4408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36AAB-3D93-448F-91EA-E07AB94C2535}" type="datetimeFigureOut">
              <a:rPr lang="en-IL" smtClean="0"/>
              <a:t>02/01/2026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0D58-B144-4A7B-AE4D-EF463EDFDA9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12133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36AAB-3D93-448F-91EA-E07AB94C2535}" type="datetimeFigureOut">
              <a:rPr lang="en-IL" smtClean="0"/>
              <a:t>02/01/2026</a:t>
            </a:fld>
            <a:endParaRPr lang="en-IL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0D58-B144-4A7B-AE4D-EF463EDFDA9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2434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36AAB-3D93-448F-91EA-E07AB94C2535}" type="datetimeFigureOut">
              <a:rPr lang="en-IL" smtClean="0"/>
              <a:t>02/01/2026</a:t>
            </a:fld>
            <a:endParaRPr lang="en-IL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0D58-B144-4A7B-AE4D-EF463EDFDA9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74302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36AAB-3D93-448F-91EA-E07AB94C2535}" type="datetimeFigureOut">
              <a:rPr lang="en-IL" smtClean="0"/>
              <a:t>02/01/2026</a:t>
            </a:fld>
            <a:endParaRPr lang="en-IL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0D58-B144-4A7B-AE4D-EF463EDFDA9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51371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36AAB-3D93-448F-91EA-E07AB94C2535}" type="datetimeFigureOut">
              <a:rPr lang="en-IL" smtClean="0"/>
              <a:t>02/01/2026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0D58-B144-4A7B-AE4D-EF463EDFDA9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57358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36AAB-3D93-448F-91EA-E07AB94C2535}" type="datetimeFigureOut">
              <a:rPr lang="en-IL" smtClean="0"/>
              <a:t>02/01/2026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0D58-B144-4A7B-AE4D-EF463EDFDA9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9921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36AAB-3D93-448F-91EA-E07AB94C2535}" type="datetimeFigureOut">
              <a:rPr lang="en-IL" smtClean="0"/>
              <a:t>02/01/2026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0D58-B144-4A7B-AE4D-EF463EDFDA9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069265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36AAB-3D93-448F-91EA-E07AB94C2535}" type="datetimeFigureOut">
              <a:rPr lang="en-IL" smtClean="0"/>
              <a:t>02/01/2026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0D58-B144-4A7B-AE4D-EF463EDFDA9E}" type="slidenum">
              <a:rPr lang="en-IL" smtClean="0"/>
              <a:t>‹#›</a:t>
            </a:fld>
            <a:endParaRPr lang="en-IL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2648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36AAB-3D93-448F-91EA-E07AB94C2535}" type="datetimeFigureOut">
              <a:rPr lang="en-IL" smtClean="0"/>
              <a:t>02/01/2026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0D58-B144-4A7B-AE4D-EF463EDFDA9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716394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36AAB-3D93-448F-91EA-E07AB94C2535}" type="datetimeFigureOut">
              <a:rPr lang="en-IL" smtClean="0"/>
              <a:t>02/01/2026</a:t>
            </a:fld>
            <a:endParaRPr lang="en-I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0D58-B144-4A7B-AE4D-EF463EDFDA9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74223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36AAB-3D93-448F-91EA-E07AB94C2535}" type="datetimeFigureOut">
              <a:rPr lang="en-IL" smtClean="0"/>
              <a:t>02/01/2026</a:t>
            </a:fld>
            <a:endParaRPr lang="en-I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0D58-B144-4A7B-AE4D-EF463EDFDA9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271599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36AAB-3D93-448F-91EA-E07AB94C2535}" type="datetimeFigureOut">
              <a:rPr lang="en-IL" smtClean="0"/>
              <a:t>02/01/2026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0D58-B144-4A7B-AE4D-EF463EDFDA9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857955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36AAB-3D93-448F-91EA-E07AB94C2535}" type="datetimeFigureOut">
              <a:rPr lang="en-IL" smtClean="0"/>
              <a:t>02/01/2026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0D58-B144-4A7B-AE4D-EF463EDFDA9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24448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5036AAB-3D93-448F-91EA-E07AB94C2535}" type="datetimeFigureOut">
              <a:rPr lang="en-IL" smtClean="0"/>
              <a:t>02/01/2026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0D58-B144-4A7B-AE4D-EF463EDFDA9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71980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3EB44-5F59-226D-A68C-8239D9F926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WellCo:</a:t>
            </a:r>
            <a:br>
              <a:rPr lang="en-US" dirty="0"/>
            </a:br>
            <a:r>
              <a:rPr lang="en-US" dirty="0"/>
              <a:t>priority outreach </a:t>
            </a:r>
            <a:endParaRPr lang="en-IL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2DAB10D-C257-6D75-A94D-2A5425E89046}"/>
              </a:ext>
            </a:extLst>
          </p:cNvPr>
          <p:cNvSpPr txBox="1">
            <a:spLocks/>
          </p:cNvSpPr>
          <p:nvPr/>
        </p:nvSpPr>
        <p:spPr>
          <a:xfrm>
            <a:off x="1154955" y="4992625"/>
            <a:ext cx="4773405" cy="10881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/>
              <a:t>Yuval Dan</a:t>
            </a: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494226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44A31-B10C-AB16-5AFB-EDE460C0F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5AEB6-3F65-4170-C2CD-ACDD046A4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9"/>
            <a:ext cx="10436416" cy="3451770"/>
          </a:xfrm>
        </p:spPr>
        <p:txBody>
          <a:bodyPr>
            <a:normAutofit/>
          </a:bodyPr>
          <a:lstStyle/>
          <a:p>
            <a:r>
              <a:rPr lang="en-US" dirty="0"/>
              <a:t>WellCo is experiencing increased member churn</a:t>
            </a:r>
          </a:p>
          <a:p>
            <a:endParaRPr lang="en-US" dirty="0"/>
          </a:p>
          <a:p>
            <a:r>
              <a:rPr lang="en-US" dirty="0"/>
              <a:t>Outreach has a cost, so they need an outreach priority list for efficiency</a:t>
            </a:r>
          </a:p>
          <a:p>
            <a:endParaRPr lang="en-US" dirty="0"/>
          </a:p>
          <a:p>
            <a:r>
              <a:rPr lang="en-US" dirty="0"/>
              <a:t>WellCo collected various user data sources from 14-days observation window.</a:t>
            </a:r>
          </a:p>
          <a:p>
            <a:endParaRPr lang="en-US" dirty="0"/>
          </a:p>
          <a:p>
            <a:r>
              <a:rPr lang="en-US" dirty="0"/>
              <a:t>For that purpose, we built a data-driven prioritization model </a:t>
            </a:r>
          </a:p>
          <a:p>
            <a:endParaRPr lang="en-US" dirty="0"/>
          </a:p>
          <a:p>
            <a:endParaRPr lang="en-US" dirty="0"/>
          </a:p>
          <a:p>
            <a:endParaRPr lang="en-IL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CFE1018-33BF-F12C-7626-089E9FCC7422}"/>
              </a:ext>
            </a:extLst>
          </p:cNvPr>
          <p:cNvSpPr/>
          <p:nvPr/>
        </p:nvSpPr>
        <p:spPr>
          <a:xfrm>
            <a:off x="2990088" y="5742432"/>
            <a:ext cx="402336" cy="265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9669E-DB78-36FE-3D1C-186E76CE4F12}"/>
              </a:ext>
            </a:extLst>
          </p:cNvPr>
          <p:cNvSpPr txBox="1"/>
          <p:nvPr/>
        </p:nvSpPr>
        <p:spPr>
          <a:xfrm>
            <a:off x="3392424" y="5704360"/>
            <a:ext cx="7178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 ranked list of members with a prioritization score 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533153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42CDF-79FC-8752-A442-1C51FBC4B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Affect Churn Risk</a:t>
            </a:r>
            <a:r>
              <a:rPr lang="en-US" dirty="0">
                <a:latin typeface="Aptos Display" panose="020B0004020202020204" pitchFamily="34" charset="0"/>
                <a:cs typeface="Aharoni" panose="02010803020104030203" pitchFamily="2" charset="-79"/>
              </a:rPr>
              <a:t>?</a:t>
            </a:r>
            <a:endParaRPr lang="en-IL" dirty="0">
              <a:latin typeface="Aptos Display" panose="020B0004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EABDD-75E5-2059-D31F-4B1B97D85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Member lifecycle: time since signup</a:t>
            </a:r>
          </a:p>
          <a:p>
            <a:endParaRPr lang="en-US" dirty="0"/>
          </a:p>
          <a:p>
            <a:r>
              <a:rPr lang="en-US" dirty="0"/>
              <a:t>Health burden: Diabetes, dietary counseling, hypertension etc.</a:t>
            </a:r>
          </a:p>
          <a:p>
            <a:endParaRPr lang="en-US" dirty="0"/>
          </a:p>
          <a:p>
            <a:r>
              <a:rPr lang="en-US" dirty="0"/>
              <a:t>App usage:  number of WellCo app sessions, frequency</a:t>
            </a:r>
          </a:p>
          <a:p>
            <a:endParaRPr lang="en-US" dirty="0"/>
          </a:p>
          <a:p>
            <a:r>
              <a:rPr lang="en-US" dirty="0"/>
              <a:t>Web history: topics of interests, movement/health share</a:t>
            </a:r>
          </a:p>
          <a:p>
            <a:pPr marL="0" indent="0" algn="ctr">
              <a:buNone/>
            </a:pPr>
            <a:br>
              <a:rPr lang="en-US" b="1" dirty="0"/>
            </a:br>
            <a:r>
              <a:rPr lang="en-US" b="1" dirty="0"/>
              <a:t>Lower engagement and higher health burden correlate with churn risk</a:t>
            </a:r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2407582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055B5-84B4-BB0B-04FA-8B7622BC5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Uplift </a:t>
            </a:r>
            <a:r>
              <a:rPr lang="en-US" sz="3600" dirty="0"/>
              <a:t>(Not Just Churn Risk)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DE26E-6281-48AD-CACB-8021FA76F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Outreach can change churn outcomes.</a:t>
            </a:r>
          </a:p>
          <a:p>
            <a:endParaRPr lang="en-US" dirty="0"/>
          </a:p>
          <a:p>
            <a:r>
              <a:rPr lang="en-US" dirty="0"/>
              <a:t>We estimate: </a:t>
            </a:r>
          </a:p>
          <a:p>
            <a:pPr lvl="1"/>
            <a:r>
              <a:rPr lang="en-US" dirty="0"/>
              <a:t>P(churn | no outreach)</a:t>
            </a:r>
          </a:p>
          <a:p>
            <a:pPr lvl="1"/>
            <a:r>
              <a:rPr lang="en-US" dirty="0"/>
              <a:t>P(churn | outreach)</a:t>
            </a:r>
          </a:p>
          <a:p>
            <a:endParaRPr lang="en-US" dirty="0"/>
          </a:p>
          <a:p>
            <a:r>
              <a:rPr lang="en-US" dirty="0"/>
              <a:t>Uplift = difference between these probabilities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The goal: prioritize members by uplift value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16024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9FCBA-CB4A-09CE-0490-D7A72C686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&amp; Validation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F41A5-5A94-EA5D-2A2B-EC141270C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Members ranked by uplift, show better churn reduction vs random outreach.</a:t>
            </a:r>
          </a:p>
          <a:p>
            <a:r>
              <a:rPr lang="en-US" dirty="0"/>
              <a:t>~60 % of the members found with positive uplift value</a:t>
            </a:r>
            <a:endParaRPr lang="en-IL" dirty="0"/>
          </a:p>
        </p:txBody>
      </p:sp>
      <p:pic>
        <p:nvPicPr>
          <p:cNvPr id="5" name="Picture 4" descr="A graph with a blue line&#10;&#10;AI-generated content may be incorrect.">
            <a:extLst>
              <a:ext uri="{FF2B5EF4-FFF2-40B4-BE49-F238E27FC236}">
                <a16:creationId xmlns:a16="http://schemas.microsoft.com/office/drawing/2014/main" id="{DDEF452D-4BB7-068A-A85D-2D37E4405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698" y="3794761"/>
            <a:ext cx="6728516" cy="265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62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A8A5-D3B9-E41E-6E89-A2E7F0CBF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37C82-A74B-7540-0F81-1FED864CE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Outreach size n chosen by the slope of cumulative expected churn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Align the number of outreaches with operational capacity and cost:</a:t>
            </a:r>
          </a:p>
          <a:p>
            <a:pPr lvl="2"/>
            <a:r>
              <a:rPr lang="en-US" sz="1800" dirty="0"/>
              <a:t>Cost per outreach</a:t>
            </a:r>
          </a:p>
          <a:p>
            <a:pPr lvl="2"/>
            <a:r>
              <a:rPr lang="en-US" sz="1800" dirty="0"/>
              <a:t>Cost per churn</a:t>
            </a:r>
          </a:p>
          <a:p>
            <a:pPr lvl="2"/>
            <a:endParaRPr lang="en-US" dirty="0"/>
          </a:p>
          <a:p>
            <a:r>
              <a:rPr lang="en-US" dirty="0"/>
              <a:t>Keep tracking churns and outreaches made for future model improvements and better predictions</a:t>
            </a:r>
          </a:p>
        </p:txBody>
      </p:sp>
    </p:spTree>
    <p:extLst>
      <p:ext uri="{BB962C8B-B14F-4D97-AF65-F5344CB8AC3E}">
        <p14:creationId xmlns:p14="http://schemas.microsoft.com/office/powerpoint/2010/main" val="11213423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228</Words>
  <Application>Microsoft Office PowerPoint</Application>
  <PresentationFormat>Widescreen</PresentationFormat>
  <Paragraphs>43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Century Gothic</vt:lpstr>
      <vt:lpstr>Wingdings 3</vt:lpstr>
      <vt:lpstr>Ion</vt:lpstr>
      <vt:lpstr>WellCo: priority outreach </vt:lpstr>
      <vt:lpstr>Overview</vt:lpstr>
      <vt:lpstr>What Affect Churn Risk?</vt:lpstr>
      <vt:lpstr>Why Uplift (Not Just Churn Risk)</vt:lpstr>
      <vt:lpstr>Performance &amp; Validation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Yuval Dan</dc:creator>
  <cp:lastModifiedBy>Yuval Dan</cp:lastModifiedBy>
  <cp:revision>3</cp:revision>
  <dcterms:created xsi:type="dcterms:W3CDTF">2026-01-02T18:58:01Z</dcterms:created>
  <dcterms:modified xsi:type="dcterms:W3CDTF">2026-01-02T19:57:33Z</dcterms:modified>
</cp:coreProperties>
</file>